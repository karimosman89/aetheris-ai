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>
                <a:solidFill>
                  <a:srgbClr val="0B1F3A"/>
                </a:solidFill>
                <a:latin typeface="Calibri"/>
              </a:rPr>
              <a:t>AETHERIS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00B8A9"/>
                </a:solidFill>
                <a:latin typeface="Calibri"/>
              </a:rPr>
              <a:t>Applied AI Infrastructure for European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Aetheris AI S.r.l.  ·  Startup Innovativa  ·  Toscana, Italia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931920"/>
            <a:ext cx="5760720" cy="1645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B8A9"/>
                </a:solidFill>
                <a:latin typeface="Calibri"/>
              </a:rPr>
              <a:t>STRATEGIC PITCH DECK v3.0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891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Energy + 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8463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Founder solo + 3 PoC + team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212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0B8A9"/>
                </a:solidFill>
                <a:latin typeface="Calibri"/>
              </a:rPr>
              <a:t>Funding ask: € 200-300k 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© 2026 Aetheris AI S.r.l.  ·  Confidenziale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Grounded &amp; Proven · Founder track record + 3 PoC pubblici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European industry sits on a mountain of data it cannot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65760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Fragmented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Tens of thousands of technical documents (manuals, procedures, regulations) inaccessible to field operators.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65760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6576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Slow manual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Visual inspection of remote assets (pipelines, substations, production lines) with costly teams and long lead times.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86000"/>
            <a:ext cx="365760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286000"/>
            <a:ext cx="36576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Reactive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1752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Scheduled or reactive maintenance, not predictive. Unplanned downtime erodes OEE and inflates cost of poor quality.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0B1F3A"/>
                </a:solidFill>
                <a:latin typeface="Calibri"/>
              </a:rPr>
              <a:t>Cost: every hour of unplanned downtime = € 5,000-50,000  ·  every decision on stale data = 1-3% operating margin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The Aetheris 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A unified European Applied AI platform for industry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029200" cy="3657600"/>
          </a:xfrm>
          <a:prstGeom prst="rect">
            <a:avLst/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What we are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An enterprise-grade Applied AI platform that combines Generative AI, Computer Vision, Predictive AI and AI Agents in a single AI Act–ready architecture. Designed for European industrial companies in Energy and Manufacturing.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57607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9144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Aetheris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0B8A9"/>
                </a:solidFill>
                <a:latin typeface="Calibri"/>
              </a:rPr>
              <a:t>GenAI / RAG /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Document intelligence, copilot, knowledge mgmt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566160"/>
            <a:ext cx="57607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566160"/>
            <a:ext cx="9144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Aetheris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23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0B8A9"/>
                </a:solidFill>
                <a:latin typeface="Calibri"/>
              </a:rPr>
              <a:t>Computer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97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Industrial inspection, defect detection, OCR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846320"/>
            <a:ext cx="57607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4846320"/>
            <a:ext cx="9144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Aetheris 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303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0B8A9"/>
                </a:solidFill>
                <a:latin typeface="Calibri"/>
              </a:rPr>
              <a:t>Predictive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577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Predictive maintenance, energy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B1F3A"/>
                </a:solidFill>
                <a:latin typeface="Calibri"/>
              </a:rPr>
              <a:t>Built on a unified MLOps + Governance foundation  ·  AI Act–ready by design  ·  Cloud + edge + on-premise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Proof of Capability — 3 public PoC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We don't promise: we publish. 3 PoC in 12-15 weeks on public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Honest founder strategy: instead of promising, we publish working PoC. Each PoC is a public GitHub repo + live demo + blog post + white paper.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3716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640080" cy="548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PoC 1 —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M1-M4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RAG multi-modal + AI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834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1089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100+ public documents (ISO, datasheet, paper)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8346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B8A9"/>
                </a:solidFill>
                <a:latin typeface="Calibri"/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1089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GitHub + Docker + Demo + White paper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3716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640080" cy="548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PoC 2 —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M5-M8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023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976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YOLOv8 + custom training + ONNX 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976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MVTec + NEU-DET + DAGM (~30k immagini)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023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B8A9"/>
                </a:solidFill>
                <a:latin typeface="Calibri"/>
              </a:rPr>
              <a:t>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297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GitHub + Gradio demo + HF model card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137160" cy="109728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394960"/>
            <a:ext cx="640080" cy="54864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949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PoC 3 — Predict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577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M9-M12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212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48640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Prophet + XGBoost + LSTM + Transformer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212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280"/>
                </a:solidFill>
                <a:latin typeface="Calibri"/>
              </a:rPr>
              <a:t>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4864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NASA C-MAPSS + AI4I + NAB (~100k time series)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52120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B8A9"/>
                </a:solidFill>
                <a:latin typeface="Calibri"/>
              </a:rPr>
              <a:t>Public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5486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GitHub + Streamlit + MLflow registry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B1F3A"/>
                </a:solidFill>
                <a:latin typeface="Calibri"/>
              </a:rPr>
              <a:t>Each PoC is a verifiable, reproducible proof of technical capability. Not a slide. Not a promise. A working GitHub repo.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Market — bottom-up conservative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Two verticals, a credible growth path, not 30 customers from a founder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Top-down sizing (EU 2030)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Energy &amp; Utilities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71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€ 28B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71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Manufacturing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461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€ 47B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461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€ 10B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Document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20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€ 12B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520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Vision industriale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947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€ 18B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947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€ 4B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Predictive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69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€ 14B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069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€ 3B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Bottom-up revenue (conservative)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0604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6060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ACV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060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71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Y1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1-2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2971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€ 40k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€ 50-100k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461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246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3-5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3246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€ 80k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€ 300-500k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520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Y3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520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8-12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59" y="35204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€ 115k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€ 800k-1.5M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Why these numbers are credible (not a slide)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3949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Y1 with founder solo: 1-2 clients is realistic (not 3-5)
• Y2 (5 clients) requires co-founder commerciale active from M9
• Y3 (10 clients) requires full team 4-5 FTE and 1-2 EU customers
• Each year is conditional on passing the corresponding Gate (§7)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Product — focused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Core Platform + 3 applications, not six disconnected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Aetheris AI Platform (core)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0F7F5"/>
                </a:solidFill>
                <a:latin typeface="Calibri"/>
              </a:rPr>
              <a:t>Orchestration  ·  MLOps  ·  Governance  ·  Security  ·  Cloud-native  ·  Edge  ·  Multi-cloud EU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36576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36576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Aetheris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GenAI / RAG /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Document intelligence, copilot, multimodal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1828800" cy="2286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PoC M1-M4 · GA M9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00400"/>
            <a:ext cx="36576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200400"/>
            <a:ext cx="36576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Aetheris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148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Defect detection, industrial inspection, OCR, video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349240"/>
            <a:ext cx="1828800" cy="2286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349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PoC M5-M8 · GA M12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200400"/>
            <a:ext cx="3657600" cy="2468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200400"/>
            <a:ext cx="36576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Aetheris 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Predictive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1148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Predictive maintenance, demand forecasting, energy optimization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5349240"/>
            <a:ext cx="1828800" cy="22860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349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PoC M9-M12 · GA M15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Not in Phase 1: Robotics, consumer Copilot, Healthcare/Banking/PA → Phase 3+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Defensible moat — 5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Not a single technology, a structural advantage that compounds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0" cy="7315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Proprietary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Layer coordinating LLM → Vision → Predictive → Agents → 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0" cy="7315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Domain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Every deployment produces evaluation data, domain knowledge, 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" cy="7315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Evaluation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In-house system to select the best model for the customer task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548640" cy="7315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Compliance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Model registry, audit trail, lineage, human oversight, data governance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548640" cy="7315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Industrial 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Connectors for SAP, ERP, SCADA, OPC-UA, MES, IoT, document repositories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Founder + team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Honest: one-man show for 6 months, then advisor → part-time → co-founder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486400" cy="73152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Founder &amp; CEO/CTO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0B8A9"/>
                </a:solidFill>
                <a:latin typeface="Calibri"/>
              </a:rPr>
              <a:t>Senior AI Engineer · 5+ years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1206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Production track record:
• 100,000+ users/day on AI systems
• 99.9% uptime on enterprise AI
• 10,000+ documents/day via RAG
• 60% review time reduction
• 35% pipeline throughput improvement
• 25% cloud cost reduction
• +22% defect detection with YOLOv8
• € 2M+ annual business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Team evolution (24 mesi)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651760"/>
            <a:ext cx="53035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651760"/>
            <a:ext cx="91440" cy="502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M0-M3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Founder + 2 advisor (gratis/equity)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1.0 FTE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3035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91440" cy="502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M3-M6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+ 1 technical advisor (4h/mese)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3246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1.0 FTE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749040"/>
            <a:ext cx="53035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749040"/>
            <a:ext cx="91440" cy="502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794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M6-M9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94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+ 1 part-time AI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794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1.5 FTE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97680"/>
            <a:ext cx="53035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297680"/>
            <a:ext cx="91440" cy="502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3434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M9-M12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43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 co-founder commerciale (5-10% eq.)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2.5 FTE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46320"/>
            <a:ext cx="53035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846320"/>
            <a:ext cx="91440" cy="502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92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M12-M18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892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+ 1 senior AI eng + 1 part-time 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4.0 FTE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94960"/>
            <a:ext cx="5303520" cy="502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394960"/>
            <a:ext cx="91440" cy="502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440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M18-M24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440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+ 1 customer success + 1 marketing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00B8A9"/>
                </a:solidFill>
                <a:latin typeface="Calibri"/>
              </a:rPr>
              <a:t>5.0 FTE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Financial plan — conservative &amp; consistent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All numbers derived from Financial Model Excel (385 live formulas)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Voce (k€)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Y1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94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Y2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Y3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945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3Y Tot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Ricavi totali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603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603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5603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1.150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603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1.630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6766560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COGS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926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26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-140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926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-345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9260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-517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461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Margine Lordo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2461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2461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260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2461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805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2461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1.113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60"/>
            <a:ext cx="6766560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118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Personale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6118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6118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36118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-235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6118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-463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Costi operativi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9319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319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9319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9319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-222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2519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R&amp;D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2519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2519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2519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2519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-102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720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EBITDA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5720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-200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5720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-50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5720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+200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57200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-50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92040"/>
            <a:ext cx="6766560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9377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Net cash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9377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+126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49377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+147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49377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+945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49377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+1.218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257800"/>
            <a:ext cx="6766560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3035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Cash EoY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53035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3035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+350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530352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+1.295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30352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Key Y3 KPIs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2606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Clienti paganti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2606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2898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ACV medio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2898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€ 115k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31912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ARR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31912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€ 690k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4838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Gross margin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34838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70%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3776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EBITDA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3776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+€ 200k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4069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Cash position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4069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€ 1.3M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Funding strategy — milestone-based (proporzionato a founder solo)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Phase 1: € 200-300k (Smart&amp;Start € 200k + accelerator € 30k + pre-seed € 100k) → 3 PoC + 1-2 design partner
Phase 2: € 750k (seed VC) → dopo Gate 3 (2-3 clienti paganti)  ·  Phase 3: EIC Accelerator (M24+)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2 design partners before 10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LOI, MoU, PoC agreement, dataset, measurable KPI — not bill immediately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1645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7160" cy="1645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Design Partner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0B8A9"/>
                </a:solidFill>
                <a:latin typeface="Calibri"/>
              </a:rP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Italian multi-utility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Goal: not bill now, but get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774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Use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Engineering Knowledge Copilot + predictive maintenance on remote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774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Expected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6517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LOI, dataset, 8-12 week PoC, KPI on time-to-access technical documentation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1247120" cy="16459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37160" cy="16459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Design Partner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0B8A9"/>
                </a:solidFill>
                <a:latin typeface="Calibri"/>
              </a:rPr>
              <a:t>Manufacturing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Italian mid-large OEM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Goal: not bill now, but get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148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Use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Computer Vision Quality Inspection on production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114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Expected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3891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MoU, annotated defect dataset, PoC on 1-2 lines, KPI on undetected defects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0B1F3A"/>
                </a:solidFill>
                <a:latin typeface="Calibri"/>
              </a:rPr>
              <a:t>This is more powerful than 30 pages of business plan. LOI + MoU + PoC + dataset = a 100% credible startup.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Regulatory — AI Act–ready, not AI Act-compliant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Designed to support, not certified yet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Precise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1A1A1A"/>
                </a:solidFill>
                <a:latin typeface="Calibri"/>
              </a:rPr>
              <a:t>“The platform is designed to support the risk management, transparency, human oversight and documentation requirements of EU Regulation 2024/1689 (AI Act).” — Not “compliant”. The distinction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EU Reg. 2024/1689 —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611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Risk mgmt, transparency, human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B8A9"/>
                </a:solidFill>
                <a:latin typeface="Calibri"/>
              </a:rPr>
              <a:t>By-design, certification M18+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EU Reg. 2016/679 — GDPR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23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Data protection, data subject rights, breach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B8A9"/>
                </a:solidFill>
                <a:latin typeface="Calibri"/>
              </a:rPr>
              <a:t>Privacy by design, DPO, DPIA per use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EU Reg. 2023/2854 — Data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Portability, interoperability, device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434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B8A9"/>
                </a:solidFill>
                <a:latin typeface="Calibri"/>
              </a:rPr>
              <a:t>Standard export APIs, clear data 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EU Reg. 2022/2554 — NIS2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846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Network security, incident 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B8A9"/>
                </a:solidFill>
                <a:latin typeface="Calibri"/>
              </a:rPr>
              <a:t>Incident response plan,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EU Reg. 2024/2847 — Cyber Resilience 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257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A1A1A"/>
                </a:solidFill>
                <a:latin typeface="Calibri"/>
              </a:rPr>
              <a:t>SBOM, vulnerability management,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257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B8A9"/>
                </a:solidFill>
                <a:latin typeface="Calibri"/>
              </a:rPr>
              <a:t>Automatic SBOM, vulnerability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Compliance roadmap: M0-M6 DPO+officer  ·  M6-M12 lineage+oversight  ·  M12-M18 ISO/IEC 42001 prep  ·  M18-M24 CE marking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Aetheris AI  ·  Pitch Deck v3.0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57200" cy="45720"/>
          </a:xfrm>
          <a:prstGeom prst="rect">
            <a:avLst/>
          </a:prstGeom>
          <a:solidFill>
            <a:srgbClr val="00B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€ 200-300k Phase 1 to build 3 PoC, sign 2 design partners, find co-founder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029200" cy="4114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B8A9"/>
                </a:solidFill>
                <a:latin typeface="Calibri"/>
              </a:rPr>
              <a:t>PHASE 1 — Funding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€ 200-300k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0F7F5"/>
                </a:solidFill>
                <a:latin typeface="Calibri"/>
              </a:rPr>
              <a:t>proporzionato a founder solo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+ 2 advisor + 3 PoC pubblicati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8A9"/>
                </a:solidFill>
                <a:latin typeface="Calibri"/>
              </a:rPr>
              <a:t>Use of funds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30% R&amp;D e PoC  ·  20% Customer discovery
15% Founder stipend  ·  10% Cloud/GPU
10% Compliance/AI Act  ·  10% Marketing
5% Capex + G&amp;A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12-month deliverable (Phase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606040"/>
            <a:ext cx="5760720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6974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✓ 3 PoC pubblicati (GitHub + demo + blog)
✓ 2-4 advisor firmati (AI Act + industry)
✓ 30-50 customer interviews completate
✓ 1-2 design partner agreement (LOI/MoU)
✓ Co-founder commerciale identificato
✓ Smart&amp;Start application inviata
✓ Team 2-3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5262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Long-term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937760"/>
            <a:ext cx="5760720" cy="1371600"/>
          </a:xfrm>
          <a:prstGeom prst="rect">
            <a:avLst/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0B1F3A"/>
                </a:solidFill>
                <a:latin typeface="Calibri"/>
              </a:rPr>
              <a:t>Applied AI Infrastructure for European Industry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4406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Calibri"/>
              </a:rPr>
              <a:t>European AI platform combining GenAI, CV, Predictive AI, Agents, MLOps and Edge AI, sovereign by design. Realistic, not hyped.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Contact: founder@aetheris.ai  ·  www.aetheris.ai  ·  Toscana, Italia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